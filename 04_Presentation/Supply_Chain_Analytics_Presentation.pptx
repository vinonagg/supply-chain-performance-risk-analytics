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Actual</c:v>
                  </c:pt>
                  <c:pt idx="1">
                    <c:v>Industry benchmark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44.3</c:v>
                </c:pt>
                <c:pt idx="1">
                  <c:v>85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6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Late-delivery rate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Tier 1 (&gt;=80)</c:v>
                  </c:pt>
                  <c:pt idx="1">
                    <c:v>Tier 2 (60-79)</c:v>
                  </c:pt>
                  <c:pt idx="2">
                    <c:v>Tier 3 (&lt;60)</c:v>
                  </c:pt>
                  <c:pt idx="3">
                    <c:v>Unclassified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56.1</c:v>
                </c:pt>
                <c:pt idx="1">
                  <c:v>55.7</c:v>
                </c:pt>
                <c:pt idx="2">
                  <c:v>55.4</c:v>
                </c:pt>
                <c:pt idx="3">
                  <c:v>57.2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40"/>
        </c:scaling>
        <c:delete val="0"/>
        <c:axPos val="l"/>
        <c:majorGridlines>
          <c:spPr>
            <a:ln w="12700" cap="flat">
              <a:solidFill>
                <a:srgbClr val="D6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0E6E8E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2E8BA8"/>
              </a:solidFill>
              <a:effectLst/>
            </c:spPr>
          </c:dPt>
          <c:dPt>
            <c:idx val="4"/>
            <c:bubble3D val="0"/>
            <c:spPr>
              <a:solidFill>
                <a:srgbClr val="4AA3BE"/>
              </a:solidFill>
              <a:effectLst/>
            </c:spPr>
          </c:dPt>
          <c:dPt>
            <c:idx val="5"/>
            <c:bubble3D val="0"/>
            <c:spPr>
              <a:solidFill>
                <a:srgbClr val="6FB8CE"/>
              </a:solidFill>
              <a:effectLst/>
            </c:spPr>
          </c:dPt>
          <c:dPt>
            <c:idx val="6"/>
            <c:bubble3D val="0"/>
            <c:spPr>
              <a:solidFill>
                <a:srgbClr val="9CCFDF"/>
              </a:solidFill>
              <a:effectLst/>
            </c:spPr>
          </c:dPt>
          <c:dPt>
            <c:idx val="7"/>
            <c:bubble3D val="0"/>
            <c:spPr>
              <a:solidFill>
                <a:srgbClr val="C3E1EA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numFmt formatCode="0.0&quot;%&quot;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numFmt formatCode="0.0&quot;%&quot;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Chemicals</c:v>
                </c:pt>
                <c:pt idx="1">
                  <c:v>Raw Material</c:v>
                </c:pt>
                <c:pt idx="2">
                  <c:v>Packaging</c:v>
                </c:pt>
                <c:pt idx="3">
                  <c:v>Electronics</c:v>
                </c:pt>
                <c:pt idx="4">
                  <c:v>Textiles</c:v>
                </c:pt>
                <c:pt idx="5">
                  <c:v>Spare Parts</c:v>
                </c:pt>
                <c:pt idx="6">
                  <c:v>IT Equipment</c:v>
                </c:pt>
                <c:pt idx="7">
                  <c:v>Machinery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13</c:v>
                </c:pt>
                <c:pt idx="1">
                  <c:v>12.6</c:v>
                </c:pt>
                <c:pt idx="2">
                  <c:v>12.5</c:v>
                </c:pt>
                <c:pt idx="3">
                  <c:v>12.5</c:v>
                </c:pt>
                <c:pt idx="4">
                  <c:v>12.4</c:v>
                </c:pt>
                <c:pt idx="5">
                  <c:v>12.4</c:v>
                </c:pt>
                <c:pt idx="6">
                  <c:v>12.3</c:v>
                </c:pt>
                <c:pt idx="7">
                  <c:v>12.3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B6B7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Stockout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WH06 Kolkata</c:v>
                  </c:pt>
                  <c:pt idx="1">
                    <c:v>WH10 Jaipur</c:v>
                  </c:pt>
                  <c:pt idx="2">
                    <c:v>WH04 Bengaluru</c:v>
                  </c:pt>
                  <c:pt idx="3">
                    <c:v>WH08 Ahmedabad</c:v>
                  </c:pt>
                  <c:pt idx="4">
                    <c:v>WH03 Chennai</c:v>
                  </c:pt>
                  <c:pt idx="5">
                    <c:v>WH09 Surat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11.9</c:v>
                </c:pt>
                <c:pt idx="1">
                  <c:v>10.7</c:v>
                </c:pt>
                <c:pt idx="2">
                  <c:v>10.6</c:v>
                </c:pt>
                <c:pt idx="3">
                  <c:v>10.6</c:v>
                </c:pt>
                <c:pt idx="4">
                  <c:v>10.5</c:v>
                </c:pt>
                <c:pt idx="5">
                  <c:v>9.4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Overstock rate %</c:v>
                </c:pt>
              </c:strCache>
            </c:strRef>
          </c:tx>
          <c:spPr>
            <a:solidFill>
              <a:srgbClr val="C98A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WH06 Kolkata</c:v>
                  </c:pt>
                  <c:pt idx="1">
                    <c:v>WH10 Jaipur</c:v>
                  </c:pt>
                  <c:pt idx="2">
                    <c:v>WH04 Bengaluru</c:v>
                  </c:pt>
                  <c:pt idx="3">
                    <c:v>WH08 Ahmedabad</c:v>
                  </c:pt>
                  <c:pt idx="4">
                    <c:v>WH03 Chennai</c:v>
                  </c:pt>
                  <c:pt idx="5">
                    <c:v>WH09 Surat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23.6</c:v>
                </c:pt>
                <c:pt idx="1">
                  <c:v>24.1</c:v>
                </c:pt>
                <c:pt idx="2">
                  <c:v>22.8</c:v>
                </c:pt>
                <c:pt idx="3">
                  <c:v>22.6</c:v>
                </c:pt>
                <c:pt idx="4">
                  <c:v>23.2</c:v>
                </c:pt>
                <c:pt idx="5">
                  <c:v>24.3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6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B6B7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Damage rate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DTDC</c:v>
                  </c:pt>
                  <c:pt idx="1">
                    <c:v>Gati</c:v>
                  </c:pt>
                  <c:pt idx="2">
                    <c:v>DHL</c:v>
                  </c:pt>
                  <c:pt idx="3">
                    <c:v>Maersk</c:v>
                  </c:pt>
                  <c:pt idx="4">
                    <c:v>FedEx</c:v>
                  </c:pt>
                  <c:pt idx="5">
                    <c:v>Ecom Exp.</c:v>
                  </c:pt>
                  <c:pt idx="6">
                    <c:v>BlueDart</c:v>
                  </c:pt>
                  <c:pt idx="7">
                    <c:v>Hapag-Lloyd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18.7</c:v>
                </c:pt>
                <c:pt idx="1">
                  <c:v>18</c:v>
                </c:pt>
                <c:pt idx="2">
                  <c:v>18</c:v>
                </c:pt>
                <c:pt idx="3">
                  <c:v>17.9</c:v>
                </c:pt>
                <c:pt idx="4">
                  <c:v>17.7</c:v>
                </c:pt>
                <c:pt idx="5">
                  <c:v>17.5</c:v>
                </c:pt>
                <c:pt idx="6">
                  <c:v>16.8</c:v>
                </c:pt>
                <c:pt idx="7">
                  <c:v>16.8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12700" cap="flat">
              <a:solidFill>
                <a:srgbClr val="D6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lines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Damaged Packaging</c:v>
                  </c:pt>
                  <c:pt idx="1">
                    <c:v>Defective Item</c:v>
                  </c:pt>
                  <c:pt idx="2">
                    <c:v>Quality Failure</c:v>
                  </c:pt>
                  <c:pt idx="3">
                    <c:v>Expired Product</c:v>
                  </c:pt>
                  <c:pt idx="4">
                    <c:v>Overshipment</c:v>
                  </c:pt>
                  <c:pt idx="5">
                    <c:v>Wrong Item</c:v>
                  </c:pt>
                  <c:pt idx="6">
                    <c:v>Wrong Quantity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704</c:v>
                </c:pt>
                <c:pt idx="1">
                  <c:v>704</c:v>
                </c:pt>
                <c:pt idx="2">
                  <c:v>699</c:v>
                </c:pt>
                <c:pt idx="3">
                  <c:v>688</c:v>
                </c:pt>
                <c:pt idx="4">
                  <c:v>680</c:v>
                </c:pt>
                <c:pt idx="5">
                  <c:v>661</c:v>
                </c:pt>
                <c:pt idx="6">
                  <c:v>631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6E0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PERFORMANCE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RISK ANALYTICS SYSTEM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· Inventory · Logistics · Vendor Management  —  end-to-end diagnostic on 1.06 lakh supply-chain records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cleaning  ·  </a:t>
            </a:r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analytics (15 queries)  ·  </a:t>
            </a:r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 dashboard  ·  </a:t>
            </a:r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vendor scoring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BI Analytics Team  ·  Data window: Jan 2021 – Dec 2024  ·  All values in INR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supply chain leaking cost and reliability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81912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819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087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vendor reliability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44% of the vendor base scores below 60 on reliability; delivery promises are missed more than half the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146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41448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&amp; fragmented procurement cost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₹31,567 Cr spent across 1,000 vendors with almost no concentration — weak leverage, high admin overhead.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4728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472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74136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imbalance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Simultaneous stockouts and heavy overstock across 10 warehouses tie up working capital and lose sales.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379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06824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delays &amp; freight expense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₹249 Cr freight bill; late arrivals are the norm, not the exception.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12664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3126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9512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return &amp; rejection rates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₹315 Cr of goods returned — quality and packaging failures dominate.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questions this system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465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69164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vendor performance, reliability &amp; delivery compliance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28232" y="17465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178040" y="169164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cost leakage, budget overruns &amp; spend-concentration risk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807208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9535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9864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turnover, stockout frequency &amp; overstock risk by warehouse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2807208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8232" y="295351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89864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Order-fulfilment &amp; on-time delivery vs the 85% industry benchmark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14216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10565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efficiency &amp; logistics turnaround across shipment modes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14216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28232" y="4160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10565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rejection patterns by category, supplier &amp; reason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221224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3675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5312664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RFM-style vendor scoring by procurement value, frequency &amp; recency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5221224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536752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5312664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summaries &amp; correlation between key supply-chain variables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six-phase analytics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8F0F4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47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60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data dictionary &amp; key relationships across 5 tables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348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8F0F4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947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Cleaning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2560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summary, standardization, de-duplication, 20+ derived columns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947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2560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stats, correlation, vendor RFM scoring, pivots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233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Analytics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846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master fact view + 15 commented analytical queries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3484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233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90872" y="4846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DirectQuery dashboard with Date/Vendor/Category/Warehouse filters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58200" y="4206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58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52560" y="4233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Story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485632" y="48463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summary, 18-slide deck, top-5 strategic recommendations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is Excel-only; SQL carries analytical logic only; every dashboard visual is measure-driven (no hardcoded values).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tables, one keyed model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371600"/>
                <a:gridCol w="1371600"/>
                <a:gridCol w="57607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 /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vendor_master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vendor — dimension, primary key Vendor_ID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purchase_orders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49,914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PO line — central 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inventory_summary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× warehouse × bi-monthly snapshot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shipment — FK PO_ID, Vendor_ID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row per return line — FK PO_ID, Vendor_ID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1,06,195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1,05,834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361 rows removed (dupes, negatives)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Joins: purchase_orders → vendor_master (Vendor_ID) · shipments → purchase_orders (PO_ID) · returns → purchase_orders &amp; vendor_master · inventory ↔ purchase_orders on Product_SKU (validated: 500/500 stocked SKUs present in orders).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EXCEL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raw data looked like — and the fix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De-duplication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60020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duplicate Vendor_IDs · 100 duplicate PO_IDs · 80 duplicate Return_IDs removed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44144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standardization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44144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vendor-category variants → 8 · 27 order-status → 5 · 27 shipment-mode → 4 · 38 return-reason → 7 · 30 country variants → 10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28269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8269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numerics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282696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negative qty/price PO rows · 50 negative freight rows · 30 zero/negative return-qty rows deleted; 60 negative stock values nulled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2394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123944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Lead_Time_Days, Stock_On_Hand, Units_Sold, Supplier_Lead_Time filled with category medians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496519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96519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Date-logic repair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965192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PO rows with delivery-before-order and 59 shipments delivered-before-dispatch corrected to NULL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80644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6E0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80644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580644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Total_Order_Value, Delivery_Delay_Days, Late_Delivery, Inventory_Turnover_Rate, Stockout/Overstock_Risk, Transit_Days, Return_Value, Vendor_Tier, +more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6  ·  full log in Data_Cleaning_Documentation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STATISTICS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 — the shape of the data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426464"/>
                <a:gridCol w="1426464"/>
                <a:gridCol w="1426464"/>
                <a:gridCol w="1426464"/>
                <a:gridCol w="1426464"/>
              </a:tblGrid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Reliability_Score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Delay (days)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Total Order Value (₹)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 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Turnover (×/yr)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Freight Cost / shipment (₹)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Value (₹)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24.5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is right-skewed (median 2 d, mean 6.6 d) — a minority of very late orders drags the average. Reliability score is near-uniform 30–100, i.e. weakly informative.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SCORECARD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that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C3568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44.3%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70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Rate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729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85% benchmark  ·  −40.7 pts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C3568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874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₹31,567 Cr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770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Procurement Spend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1729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49,914 orders · 1,000 vendors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C3568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18745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17.7%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7706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Damage Rate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17296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across all 8 carriers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C3568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251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₹315 Cr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1480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 Value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5504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9.96% of PO lines returned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34840" y="3977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C3568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4251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9.96%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51480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Rate (latest)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55504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 SKU-lines below reorder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0" y="39776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2C3568"/>
          </a:solidFill>
          <a:ln w="12700">
            <a:solidFill>
              <a:srgbClr val="3E4A8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425196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F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1.5%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51480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Vendor Spend Share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555040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highly fragmented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DELIVERY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 delivery is at 44%, not 85%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67512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55.7%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46,848 delivered orders arrived late.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675120" y="23774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delay 6.6 days; worst 30 days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40.7-point gap to benchmark is the single biggest value-loss lever in the chain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Undelivered orders (6% of PO lines) excluded from the rate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5120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Q1 — purchase_orders_clean, Late_Delivery flag.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VENDOR SCORING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score does not predict delays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rate is flat across every tier.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237744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Pearson r (Reliability_Score vs Delivery_Delay_Days) = 0.00 — no linear relationship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Tier 1 vendors are late 56.1% of the time; Tier 3, 55.4%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current score cannot be used to choose or drop vendors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5029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Q2, Q3 + correlation analysis (Phase 3).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PROCUREMENT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₹31,567 Cr spread thin across 1,000 vendors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78308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categories each 12.3 – 13.0 % of spend — no category or vendor to negotiate hard on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10 vendors = only 1.5 % of total spend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238 RFM 'Dormant / At-Risk' + 'Low-Value' vendors carry ₹6,088 Cr — prime consolidation candidates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concentration = low risk, but also low leverage &amp; high admin cost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11  ·  Source: Q4, Q5, Vendor RFM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INVENTORY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is overstock, not slow movers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783080"/>
            <a:ext cx="40233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 turnover 16.6×/yr — healthy; no category below the 4× slow-mover line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Latest snapshot: 24.7% of SKU-lines overstocked vs 10.0% in stockout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7,134 overstock vs 3,110 stockout lines across all snapshots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Working capital is trapped in excess stock while service still fails at the margin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12  ·  Source: Q6, Q7, Q14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— LOGISTICS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Freight cost is uniform; damage is systemic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783080"/>
            <a:ext cx="42062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17.7% overall damage rate — every carrier lands in a 16.8–18.7% band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Freight ₹249 Cr; avg ₹1.25 L / shipment; mode averages differ &lt; 7%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Freight cost vs transit-days correlation r = 0.00 — cost is volume-driven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carrier-switch or mode-switch will fix this; the fault is packaging &amp; handling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13  ·  Source: Q8, Q9, Q10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6 — RETURNS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₹315 Cr of returns — quality &amp; packaging led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78308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4,970 return lines = 9.96% of all PO lines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Damaged Packaging + Defective Item + Quality Failure ≈ 42% of lines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497 'high-value returns' (≥₹14.7 L each) worth ₹895 Cr — a focused recovery list</a:t>
            </a:r>
            <a:endParaRPr lang="en-US" sz="11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Reasons are evenly spread — a broad quality problem, not one bad SKU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14  ·  Source: Q11, Q12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RFM segmentation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920240"/>
                <a:gridCol w="1828800"/>
                <a:gridCol w="3383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Partner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₹5,891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Protect, JBP, long-term contracts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₹10,502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into strategic; tighten SLAs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₹9,086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Standardize, automate 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Dormant / At-Risk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₹4,582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Re-bid or exit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₹1,506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into catalogue buys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= months since last PO (as-of 2024-12-31) · Frequency = PO count · Monetary = Σ Total_Order_Value · each scored 1–5 by quintile.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15  ·  Source: Vendor_RFM sheet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High-risk vendor scorecard — worst 5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7280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1645920"/>
                <a:gridCol w="1645920"/>
                <a:gridCol w="17373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VND00936 (Vendor_0936)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VND00623 (Vendor_0623)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VND00146 (Vendor_0146)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VND00946 (Vendor_0946)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VND00905 (Vendor_0905)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319 vendors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carry 3 or more of 4 risk flags (reliability &lt; 60, late rate above median, return rate &gt; 10%, delay above median). These are the first candidates for a formal performance review or exit.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16  ·  Source: Q15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743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moves, ranked by value at stake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3258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delivery-recovery program  </a:t>
            </a:r>
            <a:pPr indent="0" marL="0">
              <a:buNone/>
            </a:pPr>
            <a:r>
              <a:rPr lang="en-US" sz="11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On-time 44% vs 85% target. Contractual OTIF clauses + weekly late-order war-room for the worst 50 vendors. Goal: +25 pts in two quarters.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4140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14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22576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vendor score on outcomes  </a:t>
            </a:r>
            <a:pPr indent="0" marL="0">
              <a:buNone/>
            </a:pPr>
            <a:r>
              <a:rPr lang="en-US" sz="11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Current score has 0.00 correlation with delay. Replace with OTIF + defect + return-rate index from vw_supply_chain_fact; re-tier quarterly.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1071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319272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the supplier tail  </a:t>
            </a:r>
            <a:pPr indent="0" marL="0">
              <a:buNone/>
            </a:pPr>
            <a:r>
              <a:rPr lang="en-US" sz="11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1,000 vendors, top-10 = 1.5% of spend. Retire 238 dormant/low-value vendors (₹6,088 Cr) into strategic partners for leverage + lower admin cost.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40740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1596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inventory, don't just replenish  </a:t>
            </a:r>
            <a:pPr indent="0" marL="0">
              <a:buNone/>
            </a:pPr>
            <a:r>
              <a:rPr lang="en-US" sz="11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24.7% overstock vs 10.0% stockout. Cut safety stock where overstocked; tighten reorder points at WH06 Kolkata + 4 worst sites.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4041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54041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312664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packaging &amp; inbound QC  </a:t>
            </a:r>
            <a:pPr indent="0" marL="0">
              <a:buNone/>
            </a:pPr>
            <a:r>
              <a:rPr lang="en-US" sz="11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17.7% damage (all carriers) + ₹315 Cr returns, 42% quality/packaging. Fund packaging redesign + inbound QC gate; target damage &lt; 10%.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diagnosis to resilience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32004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the priority-one lever (+25 pts OTIF), vendor scoring must be rebuilt on real outcomes, and the supplier base, inventory buffers and packaging all carry recoverable cost. The MySQL model and 4-page Power BI dashboard make this a live, monitored program — not a one-off study.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5120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5 cleaned datasets · Excel cleaning + stats workbook · MySQL script (schema + fact view + 15 queries) · 4-page dashboard · this deck · 1-page executive summary.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Performance &amp; Risk Analytics System</a:t>
            </a:r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Slide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Performance &amp; Risk Analytics System</dc:title>
  <dc:subject>PptxGenJS Presentation</dc:subject>
  <dc:creator>BI Analytics Team</dc:creator>
  <cp:lastModifiedBy>BI Analytics Team</cp:lastModifiedBy>
  <cp:revision>1</cp:revision>
  <dcterms:created xsi:type="dcterms:W3CDTF">2026-09-02T18:09:59Z</dcterms:created>
  <dcterms:modified xsi:type="dcterms:W3CDTF">2026-09-02T18:09:59Z</dcterms:modified>
</cp:coreProperties>
</file>